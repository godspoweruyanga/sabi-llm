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D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3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8FD9D6"/>
                </a:solidFill>
                <a:latin typeface="Calibri"/>
              </a:rPr>
              <a:t>AFRICA DEEP TECH CHALLENGE 2026  ·  THE LAPTOP LLM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SABI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39A2A"/>
                </a:solidFill>
                <a:latin typeface="Calibri"/>
              </a:rPr>
              <a:t>TRACK — CODING ASSISTANTS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9E9E7"/>
                </a:solidFill>
                <a:latin typeface="Calibri"/>
              </a:rPr>
              <a:t>Code generation, debugging, and programming tutoring.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6032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E6F3F2"/>
                </a:solidFill>
                <a:latin typeface="Calibri"/>
              </a:rPr>
              <a:t>A fully offline coding assistant that runs entirely on the $150–$500 laptop already on millions of desks in Africa — zero cloud dependency, under a 7 GB memory ceiling.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383280"/>
            <a:ext cx="5120640" cy="2148840"/>
          </a:xfrm>
          <a:prstGeom prst="rect">
            <a:avLst/>
          </a:prstGeom>
          <a:solidFill>
            <a:srgbClr val="145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602736"/>
            <a:ext cx="45720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E39A2A"/>
                </a:solidFill>
                <a:latin typeface="Calibri"/>
              </a:rPr>
              <a:t>THE PROBLEM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E0EEED"/>
                </a:solidFill>
                <a:latin typeface="Calibri"/>
              </a:rPr>
              <a:t>Cloud-hosted LLMs require API fees, stable fibre, and sustained electricity — blockers for a student in Lagos, a clinic in Arusha, or a shopkeeper in Dakar.</a:t>
            </a:r>
          </a:p>
          <a:p>
            <a:pPr>
              <a:spcBef>
                <a:spcPts val="600"/>
              </a:spcBef>
            </a:pPr>
            <a:r>
              <a:rPr sz="1250" b="1">
                <a:solidFill>
                  <a:srgbClr val="FFFFFF"/>
                </a:solidFill>
                <a:latin typeface="Calibri"/>
              </a:rPr>
              <a:t>The capability exists. Affordable, private, local access does not.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3383280"/>
            <a:ext cx="5120640" cy="2148840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3602736"/>
            <a:ext cx="45720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0F3D3E"/>
                </a:solidFill>
                <a:latin typeface="Calibri"/>
              </a:rPr>
              <a:t>THE SOLUTION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FFFFFF"/>
                </a:solidFill>
                <a:latin typeface="Calibri"/>
              </a:rPr>
              <a:t>✓  Single quantized model (Qwen2.5-Coder-3B, Q4_K_M, ~2 GB) via llama.cpp — no GPU, no API keys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FFFFFF"/>
                </a:solidFill>
                <a:latin typeface="Calibri"/>
              </a:rPr>
              <a:t>✓  A focused Coding Assistant: writes, explains, and debugs code directly in the reply — no file reads/writes, no filesystem access, no side effects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FFFFFF"/>
                </a:solidFill>
                <a:latin typeface="Calibri"/>
              </a:rPr>
              <a:t>✓  One engine, three interfaces: terminal chat, full-screen TUI, streaming browser web app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5715000"/>
            <a:ext cx="5120640" cy="502920"/>
          </a:xfrm>
          <a:prstGeom prst="rect">
            <a:avLst/>
          </a:prstGeom>
          <a:solidFill>
            <a:srgbClr val="145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715000"/>
            <a:ext cx="4754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African Alpha Bonus +15% — Yorùbá support (sabi-yoruba-tts)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5715000"/>
            <a:ext cx="5303520" cy="502920"/>
          </a:xfrm>
          <a:prstGeom prst="rect">
            <a:avLst/>
          </a:prstGeom>
          <a:solidFill>
            <a:srgbClr val="145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5715000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Budget-Laptop Profile Bonus +10% — both claimed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A9395"/>
                </a:solidFill>
                <a:latin typeface="Calibri"/>
              </a:rPr>
              <a:t>sabi-llm  ·  github.com/godspoweruyanga/sabi-llm  ·  Godspower Uyanga &amp; Oreoluwa Akinwe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73952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A9395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3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9260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8FD9D6"/>
                </a:solidFill>
                <a:latin typeface="Calibri"/>
              </a:rPr>
              <a:t>THE DEVELOPMENT JOURNEY</a:t>
            </a:r>
          </a:p>
          <a:p>
            <a:r>
              <a:rPr sz="2000" b="1">
                <a:solidFill>
                  <a:srgbClr val="FFFFFF"/>
                </a:solidFill>
                <a:latin typeface="Calibri"/>
              </a:rPr>
              <a:t>“Thin model, smart harness” — built, broken, and fixed in the open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71600"/>
            <a:ext cx="82296" cy="1170432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59536" y="1371600"/>
            <a:ext cx="1056132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1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99616"/>
            <a:ext cx="1828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F8A8C"/>
                </a:solidFill>
                <a:latin typeface="Calibri"/>
              </a:rPr>
              <a:t>2026-08-13/14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1499616"/>
            <a:ext cx="82296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41B1E"/>
                </a:solidFill>
                <a:latin typeface="Calibri"/>
              </a:rPr>
              <a:t>Small model wouldn't follow the reply format</a:t>
            </a:r>
          </a:p>
          <a:p>
            <a:r>
              <a:rPr sz="1080">
                <a:solidFill>
                  <a:srgbClr val="3A464A"/>
                </a:solidFill>
                <a:latin typeface="Calibri"/>
              </a:rPr>
              <a:t>The 3B model narrated code as prose instead of the structured reply format the harness needs to parse reliably. A temperature-only nudge (0.4→0.1) wasn't enough. Fixed structurally with llama.cpp's JSON-grammar mode — every turn is now a well-formed, parseable reply, no third option.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670048"/>
            <a:ext cx="82296" cy="1170432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9536" y="2670048"/>
            <a:ext cx="1056132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1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798064"/>
            <a:ext cx="1828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F8A8C"/>
                </a:solidFill>
                <a:latin typeface="Calibri"/>
              </a:rPr>
              <a:t>2026-08-25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798064"/>
            <a:ext cx="82296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41B1E"/>
                </a:solidFill>
                <a:latin typeface="Calibri"/>
              </a:rPr>
              <a:t>A bare “hello” reached the wrong code path</a:t>
            </a:r>
          </a:p>
          <a:p>
            <a:r>
              <a:rPr sz="1080">
                <a:solidFill>
                  <a:srgbClr val="3A464A"/>
                </a:solidFill>
                <a:latin typeface="Calibri"/>
              </a:rPr>
              <a:t>Before the Coding Assistant persona was locked down, a greeting could reach SABI's general-purpose agent loop and trigger an unintended file change. Root-caused and fixed with a smalltalk router and, since, a fully restricted Coding-Assistant mode for sabi serve — 5 regression tests added same 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968496"/>
            <a:ext cx="82296" cy="1170432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9536" y="3968496"/>
            <a:ext cx="1056132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1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096511"/>
            <a:ext cx="1828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F8A8C"/>
                </a:solidFill>
                <a:latin typeface="Calibri"/>
              </a:rPr>
              <a:t>2026-08-25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4096511"/>
            <a:ext cx="82296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41B1E"/>
                </a:solidFill>
                <a:latin typeface="Calibri"/>
              </a:rPr>
              <a:t>Caught our own bad model upload</a:t>
            </a:r>
          </a:p>
          <a:p>
            <a:r>
              <a:rPr sz="1080">
                <a:solidFill>
                  <a:srgbClr val="3A464A"/>
                </a:solidFill>
                <a:latin typeface="Calibri"/>
              </a:rPr>
              <a:t>The official profiler's params_match check revealed our published model was a stale 7B/4.68 GB build, not the claimed 3B/1.8 GB. Re-sourced the verified Qwen2.5-Coder-3B file directly from Qwen's HF repo and re-measured everything.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5266944"/>
            <a:ext cx="82296" cy="1170432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9536" y="5266944"/>
            <a:ext cx="1056132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1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394959"/>
            <a:ext cx="1828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F8A8C"/>
                </a:solidFill>
                <a:latin typeface="Calibri"/>
              </a:rPr>
              <a:t>2026-08-25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5394959"/>
            <a:ext cx="82296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41B1E"/>
                </a:solidFill>
                <a:latin typeface="Calibri"/>
              </a:rPr>
              <a:t>Rebuilt sabi serve as a pure streaming Coding Assistant</a:t>
            </a:r>
          </a:p>
          <a:p>
            <a:r>
              <a:rPr sz="1080">
                <a:solidFill>
                  <a:srgbClr val="3A464A"/>
                </a:solidFill>
                <a:latin typeface="Calibri"/>
              </a:rPr>
              <a:t>The web UI now streams token-by-token from the first word of the reply, and answers purely through code generation, debugging guidance, and programming tutoring — no filesystem access, matching the Coding Assistants track exactly.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A9395"/>
                </a:solidFill>
                <a:latin typeface="Calibri"/>
              </a:rPr>
              <a:t>Every fix above is a real, dated incident — see REPORT.md §13 for the full log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73952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A9395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3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9260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8FD9D6"/>
                </a:solidFill>
                <a:latin typeface="Calibri"/>
              </a:rPr>
              <a:t>PROOF IT WORKS</a:t>
            </a:r>
          </a:p>
          <a:p>
            <a:r>
              <a:rPr sz="2000" b="1">
                <a:solidFill>
                  <a:srgbClr val="FFFFFF"/>
                </a:solidFill>
                <a:latin typeface="Calibri"/>
              </a:rPr>
              <a:t>Measured, not estimated — official adtc-profiler run, 2026-08-25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2446020" cy="1051560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36192"/>
            <a:ext cx="24460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19.36 tok/s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2084831"/>
            <a:ext cx="22997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DAF0EE"/>
                </a:solidFill>
                <a:latin typeface="Calibri"/>
              </a:rPr>
              <a:t>Generation speed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497579" y="1417320"/>
            <a:ext cx="2446020" cy="1051560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97579" y="1536192"/>
            <a:ext cx="24460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3.45 GB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70732" y="2084831"/>
            <a:ext cx="22997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DAF0EE"/>
                </a:solidFill>
                <a:latin typeface="Calibri"/>
              </a:rPr>
              <a:t>Peak RAM  (of 7 GB budget)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19" y="1417320"/>
            <a:ext cx="2446020" cy="1051560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19" y="1536192"/>
            <a:ext cx="24460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50.8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91071" y="2084831"/>
            <a:ext cx="22997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DAF0EE"/>
                </a:solidFill>
                <a:latin typeface="Calibri"/>
              </a:rPr>
              <a:t>Efficiency score  Seff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38259" y="1417320"/>
            <a:ext cx="2446020" cy="1051560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38259" y="1536192"/>
            <a:ext cx="24460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11411" y="2084831"/>
            <a:ext cx="22997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DAF0EE"/>
                </a:solidFill>
                <a:latin typeface="Calibri"/>
              </a:rPr>
              <a:t>Crashes / OOM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697480"/>
            <a:ext cx="6035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41B1E"/>
                </a:solidFill>
                <a:latin typeface="Calibri"/>
              </a:rPr>
              <a:t>HOW WE TARGET THE SCORING MODEL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063240"/>
            <a:ext cx="6035040" cy="1700784"/>
          </a:xfrm>
          <a:prstGeom prst="rect">
            <a:avLst/>
          </a:prstGeom>
          <a:solidFill>
            <a:srgbClr val="FFFFFF"/>
          </a:solidFill>
          <a:ln w="9525">
            <a:solidFill>
              <a:srgbClr val="E1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136392"/>
            <a:ext cx="118872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1B1E"/>
                </a:solidFill>
                <a:latin typeface="Calibri"/>
              </a:rPr>
              <a:t>Accuracy</a:t>
            </a:r>
          </a:p>
          <a:p>
            <a:r>
              <a:rPr sz="1050" b="1">
                <a:solidFill>
                  <a:srgbClr val="1F8A8C"/>
                </a:solidFill>
                <a:latin typeface="Calibri"/>
              </a:rPr>
              <a:t>50%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3136392"/>
            <a:ext cx="452628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A464A"/>
                </a:solidFill>
                <a:latin typeface="Calibri"/>
              </a:rPr>
              <a:t>Code-tuned 3B model, grounded with local RAG, focused entirely on generation, debugging, and tutoring — Sacc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3630168"/>
            <a:ext cx="6035039" cy="0"/>
          </a:xfrm>
          <a:prstGeom prst="line">
            <a:avLst/>
          </a:prstGeom>
          <a:ln w="9525">
            <a:solidFill>
              <a:srgbClr val="E1E5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14400" y="3703320"/>
            <a:ext cx="118872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1B1E"/>
                </a:solidFill>
                <a:latin typeface="Calibri"/>
              </a:rPr>
              <a:t>Speed</a:t>
            </a:r>
          </a:p>
          <a:p>
            <a:r>
              <a:rPr sz="1050" b="1">
                <a:solidFill>
                  <a:srgbClr val="1F8A8C"/>
                </a:solidFill>
                <a:latin typeface="Calibri"/>
              </a:rPr>
              <a:t>30%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3703320"/>
            <a:ext cx="452628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A464A"/>
                </a:solidFill>
                <a:latin typeface="Calibri"/>
              </a:rPr>
              <a:t>Q4 quantization, thread tuning, true token-by-token streaming — Sperf = 100 × (TPSact ÷ TPSmax)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7240" y="4197096"/>
            <a:ext cx="6035039" cy="0"/>
          </a:xfrm>
          <a:prstGeom prst="line">
            <a:avLst/>
          </a:prstGeom>
          <a:ln w="9525">
            <a:solidFill>
              <a:srgbClr val="E1E5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14400" y="4270248"/>
            <a:ext cx="118872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1B1E"/>
                </a:solidFill>
                <a:latin typeface="Calibri"/>
              </a:rPr>
              <a:t>Efficiency</a:t>
            </a:r>
          </a:p>
          <a:p>
            <a:r>
              <a:rPr sz="1050" b="1">
                <a:solidFill>
                  <a:srgbClr val="1F8A8C"/>
                </a:solidFill>
                <a:latin typeface="Calibri"/>
              </a:rPr>
              <a:t>20%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4270248"/>
            <a:ext cx="452628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A464A"/>
                </a:solidFill>
                <a:latin typeface="Calibri"/>
              </a:rPr>
              <a:t>Single quant, lazy load, near-zero-RAM harness — Seff = 100 × ((7GB − Peak RAM) ÷ 7GB)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269748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41B1E"/>
                </a:solidFill>
                <a:latin typeface="Calibri"/>
              </a:rPr>
              <a:t>GATE 2  (SEP 8 – SEP 29)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78040" y="3063240"/>
            <a:ext cx="4206240" cy="1700784"/>
          </a:xfrm>
          <a:prstGeom prst="rect">
            <a:avLst/>
          </a:prstGeom>
          <a:solidFill>
            <a:srgbClr val="0F3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0" y="3246120"/>
            <a:ext cx="3749039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00" b="1">
                <a:solidFill>
                  <a:srgbClr val="1F8A8C"/>
                </a:solidFill>
                <a:latin typeface="Calibri"/>
              </a:rPr>
              <a:t>—  </a:t>
            </a:r>
            <a:r>
              <a:rPr sz="1100">
                <a:solidFill>
                  <a:srgbClr val="E6F3F2"/>
                </a:solidFill>
                <a:latin typeface="Calibri"/>
              </a:rPr>
              <a:t>30-minute technical Q&amp;A session (scheduled)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1F8A8C"/>
                </a:solidFill>
                <a:latin typeface="Calibri"/>
              </a:rPr>
              <a:t>—  </a:t>
            </a:r>
            <a:r>
              <a:rPr sz="1100">
                <a:solidFill>
                  <a:srgbClr val="E6F3F2"/>
                </a:solidFill>
                <a:latin typeface="Calibri"/>
              </a:rPr>
              <a:t>Prompt responses to reviewer clarification requests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1F8A8C"/>
                </a:solidFill>
                <a:latin typeface="Calibri"/>
              </a:rPr>
              <a:t>—  </a:t>
            </a:r>
            <a:r>
              <a:rPr sz="1100">
                <a:solidFill>
                  <a:srgbClr val="E6F3F2"/>
                </a:solidFill>
                <a:latin typeface="Calibri"/>
              </a:rPr>
              <a:t>Re-run on the real ADTC Standard Laptop before the audit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897880"/>
            <a:ext cx="10607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1">
                <a:solidFill>
                  <a:srgbClr val="0F3D3E"/>
                </a:solidFill>
                <a:latin typeface="Calibri"/>
              </a:rPr>
              <a:t>SABI — an AI coworker Africa can own, run, and trust, on the hardware it already has.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A9395"/>
                </a:solidFill>
                <a:latin typeface="Calibri"/>
              </a:rPr>
              <a:t>github.com/godspoweruyanga/sabi-llm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73952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A9395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